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embeddedFontLst>
    <p:embeddedFont>
      <p:font typeface="Inter" panose="020B0604020202020204" charset="0"/>
      <p:regular r:id="rId21"/>
    </p:embeddedFont>
    <p:embeddedFont>
      <p:font typeface="Inter Bold" panose="020B0604020202020204" charset="0"/>
      <p:regular r:id="rId22"/>
    </p:embeddedFont>
    <p:embeddedFont>
      <p:font typeface="Poppins" panose="00000500000000000000" pitchFamily="2" charset="0"/>
      <p:regular r:id="rId23"/>
    </p:embeddedFont>
    <p:embeddedFont>
      <p:font typeface="Poppins Bold" panose="020B0604020202020204" charset="0"/>
      <p:regular r:id="rId24"/>
    </p:embeddedFont>
    <p:embeddedFont>
      <p:font typeface="Poppins Medium" panose="00000600000000000000" pitchFamily="2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jpe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150644" y="5520557"/>
            <a:ext cx="7986712" cy="2211438"/>
            <a:chOff x="0" y="0"/>
            <a:chExt cx="10648950" cy="2948584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648950" cy="2948559"/>
            </a:xfrm>
            <a:custGeom>
              <a:avLst/>
              <a:gdLst/>
              <a:ahLst/>
              <a:cxnLst/>
              <a:rect l="l" t="t" r="r" b="b"/>
              <a:pathLst>
                <a:path w="10648950" h="2948559">
                  <a:moveTo>
                    <a:pt x="0" y="0"/>
                  </a:moveTo>
                  <a:lnTo>
                    <a:pt x="10648950" y="0"/>
                  </a:lnTo>
                  <a:lnTo>
                    <a:pt x="10648950" y="2948559"/>
                  </a:lnTo>
                  <a:lnTo>
                    <a:pt x="0" y="2948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60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22860"/>
            <a:ext cx="18328821" cy="10264140"/>
          </a:xfrm>
          <a:custGeom>
            <a:avLst/>
            <a:gdLst/>
            <a:ahLst/>
            <a:cxnLst/>
            <a:rect l="l" t="t" r="r" b="b"/>
            <a:pathLst>
              <a:path w="18328821" h="10264140">
                <a:moveTo>
                  <a:pt x="0" y="0"/>
                </a:moveTo>
                <a:lnTo>
                  <a:pt x="18328821" y="0"/>
                </a:lnTo>
                <a:lnTo>
                  <a:pt x="18328821" y="10264140"/>
                </a:lnTo>
                <a:lnTo>
                  <a:pt x="0" y="102641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9999"/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15860" y="30546"/>
            <a:ext cx="3219093" cy="790690"/>
          </a:xfrm>
          <a:custGeom>
            <a:avLst/>
            <a:gdLst/>
            <a:ahLst/>
            <a:cxnLst/>
            <a:rect l="l" t="t" r="r" b="b"/>
            <a:pathLst>
              <a:path w="3219093" h="790690">
                <a:moveTo>
                  <a:pt x="0" y="0"/>
                </a:moveTo>
                <a:lnTo>
                  <a:pt x="3219093" y="0"/>
                </a:lnTo>
                <a:lnTo>
                  <a:pt x="3219093" y="790690"/>
                </a:lnTo>
                <a:lnTo>
                  <a:pt x="0" y="790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TextBox 8"/>
          <p:cNvSpPr txBox="1"/>
          <p:nvPr/>
        </p:nvSpPr>
        <p:spPr>
          <a:xfrm>
            <a:off x="3829149" y="2392861"/>
            <a:ext cx="10629702" cy="1391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692"/>
              </a:lnSpc>
            </a:pPr>
            <a:r>
              <a:rPr lang="en-US" sz="8100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</a:t>
            </a:r>
            <a:r>
              <a:rPr lang="en-US" sz="8100" b="1">
                <a:solidFill>
                  <a:srgbClr val="06B6D4"/>
                </a:solidFill>
                <a:latin typeface="Poppins Bold"/>
                <a:ea typeface="Poppins Bold"/>
                <a:cs typeface="Poppins Bold"/>
                <a:sym typeface="Poppins Bold"/>
              </a:rPr>
              <a:t>AltoqueCV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07756" y="3790950"/>
            <a:ext cx="8472488" cy="591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Tu Copiloto Inteligente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3556" y="5839644"/>
            <a:ext cx="7220126" cy="39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Presentado por: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César Gangas - Marcela Segovia - Amaro Poblete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93556" y="6319618"/>
            <a:ext cx="7100888" cy="39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Asignatura: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Capstone 009V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93556" y="6799583"/>
            <a:ext cx="7100888" cy="39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1800" b="1">
                <a:solidFill>
                  <a:srgbClr val="F8FAFC"/>
                </a:solidFill>
                <a:latin typeface="Inter Bold"/>
                <a:ea typeface="Inter Bold"/>
                <a:cs typeface="Inter Bold"/>
                <a:sym typeface="Inter Bold"/>
              </a:rPr>
              <a:t>Profesor:</a:t>
            </a:r>
            <a:r>
              <a:rPr lang="en-US" sz="18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 Jorge Guzmán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2000"/>
            </a:blip>
            <a:stretch>
              <a:fillRect l="-7397" r="-7397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4350896" y="4166664"/>
            <a:ext cx="9586198" cy="14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06B6D4"/>
                </a:solidFill>
                <a:latin typeface="Poppins Bold"/>
                <a:ea typeface="Poppins Bold"/>
                <a:cs typeface="Poppins Bold"/>
                <a:sym typeface="Poppins Bold"/>
              </a:rPr>
              <a:t>01. La Problemática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184100" y="2419029"/>
            <a:ext cx="7915275" cy="5715000"/>
            <a:chOff x="0" y="0"/>
            <a:chExt cx="10553700" cy="7620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53700" cy="7620000"/>
            </a:xfrm>
            <a:custGeom>
              <a:avLst/>
              <a:gdLst/>
              <a:ahLst/>
              <a:cxnLst/>
              <a:rect l="l" t="t" r="r" b="b"/>
              <a:pathLst>
                <a:path w="10553700" h="76200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8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184100" y="1077308"/>
            <a:ext cx="7772400" cy="98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El Cliente/Usuario: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Postulantes a empleos en Chile, desde recién egresados hasta profesionales buscando movilidad.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84881" y="2184186"/>
            <a:ext cx="8585919" cy="178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1899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Fatiga de Postulación:</a:t>
            </a:r>
            <a:r>
              <a:rPr lang="en-US" sz="1899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 postulante promedio invierte entre 3 a 8 minutos en rellenar un solo formulario manual, teniendo que tipear repetitivamente el mismo CV, certificados y datos duros en decenas de portales incompatibles entre sí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84881" y="4277605"/>
            <a:ext cx="8585919" cy="1331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1899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El Muro Técnico:</a:t>
            </a:r>
            <a:r>
              <a:rPr lang="en-US" sz="1899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Las herramientas extranjeras fallan en Chile. Además, el scraping tradicional genera bloqueos (Cloudflare) y vulnera leyes informáticas.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84881" y="5889851"/>
            <a:ext cx="8321754" cy="178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6"/>
              </a:lnSpc>
            </a:pPr>
            <a:r>
              <a:rPr lang="en-US" sz="1899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Filtros ATS:</a:t>
            </a:r>
            <a:r>
              <a:rPr lang="en-US" sz="1899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Plataformas de RR.HH. (como Buk, Rex+ o SuccessFactors) y portales masivos (Laborum, Trabajando) utilizan filtros automatizados que descartan excelentes candidatos solo porque no incluyeron la "palabra clave" exacta que la empresa configuró. 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198387" y="2433317"/>
            <a:ext cx="7886700" cy="5686425"/>
            <a:chOff x="0" y="0"/>
            <a:chExt cx="10515600" cy="75819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0515600" cy="7581900"/>
            </a:xfrm>
            <a:custGeom>
              <a:avLst/>
              <a:gdLst/>
              <a:ahLst/>
              <a:cxnLst/>
              <a:rect l="l" t="t" r="r" b="b"/>
              <a:pathLst>
                <a:path w="10515600" h="7581900">
                  <a:moveTo>
                    <a:pt x="0" y="0"/>
                  </a:moveTo>
                  <a:lnTo>
                    <a:pt x="10515600" y="0"/>
                  </a:lnTo>
                  <a:lnTo>
                    <a:pt x="1051560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57288" y="823913"/>
            <a:ext cx="17072134" cy="947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le duele al Usuario?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71538" y="871538"/>
            <a:ext cx="85725" cy="900112"/>
            <a:chOff x="0" y="0"/>
            <a:chExt cx="114300" cy="12001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84818" y="2346111"/>
            <a:ext cx="171450" cy="300038"/>
            <a:chOff x="0" y="0"/>
            <a:chExt cx="228600" cy="40005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4818" y="4439530"/>
            <a:ext cx="171450" cy="300038"/>
            <a:chOff x="0" y="0"/>
            <a:chExt cx="228600" cy="40005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84818" y="6051776"/>
            <a:ext cx="171450" cy="300038"/>
            <a:chOff x="0" y="0"/>
            <a:chExt cx="228600" cy="40005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284881" y="8000679"/>
            <a:ext cx="8321754" cy="150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Desorden y Estrés: 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 enviar postulaciones por tantas plataformas distintas, el candidato pierde totalmente la trazabilidad 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41956" y="8191179"/>
            <a:ext cx="171450" cy="300038"/>
            <a:chOff x="0" y="0"/>
            <a:chExt cx="228600" cy="40005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1771650"/>
            <a:ext cx="7493822" cy="4024864"/>
            <a:chOff x="0" y="0"/>
            <a:chExt cx="11575048" cy="6216853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1575048" cy="6216904"/>
            </a:xfrm>
            <a:custGeom>
              <a:avLst/>
              <a:gdLst/>
              <a:ahLst/>
              <a:cxnLst/>
              <a:rect l="l" t="t" r="r" b="b"/>
              <a:pathLst>
                <a:path w="11575048" h="6216904">
                  <a:moveTo>
                    <a:pt x="0" y="0"/>
                  </a:moveTo>
                  <a:lnTo>
                    <a:pt x="11575048" y="0"/>
                  </a:lnTo>
                  <a:lnTo>
                    <a:pt x="11575048" y="6216904"/>
                  </a:lnTo>
                  <a:lnTo>
                    <a:pt x="0" y="6216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838" b="-486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5878598"/>
            <a:ext cx="7493822" cy="4294102"/>
            <a:chOff x="0" y="0"/>
            <a:chExt cx="11575048" cy="6417774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1575048" cy="6417825"/>
            </a:xfrm>
            <a:custGeom>
              <a:avLst/>
              <a:gdLst/>
              <a:ahLst/>
              <a:cxnLst/>
              <a:rect l="l" t="t" r="r" b="b"/>
              <a:pathLst>
                <a:path w="11575048" h="6417825">
                  <a:moveTo>
                    <a:pt x="0" y="0"/>
                  </a:moveTo>
                  <a:lnTo>
                    <a:pt x="11575048" y="0"/>
                  </a:lnTo>
                  <a:lnTo>
                    <a:pt x="11575048" y="6417825"/>
                  </a:lnTo>
                  <a:lnTo>
                    <a:pt x="0" y="6417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121" b="-314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57288" y="633413"/>
            <a:ext cx="8011001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La Solución: AltoqueCV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871538" y="681038"/>
            <a:ext cx="85725" cy="900112"/>
            <a:chOff x="0" y="0"/>
            <a:chExt cx="114300" cy="12001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01188" y="14288"/>
            <a:ext cx="8772525" cy="10287000"/>
            <a:chOff x="0" y="0"/>
            <a:chExt cx="11696700" cy="13716000"/>
          </a:xfrm>
        </p:grpSpPr>
        <p:sp>
          <p:nvSpPr>
            <p:cNvPr id="12" name="Freeform 12" descr="image.png"/>
            <p:cNvSpPr/>
            <p:nvPr/>
          </p:nvSpPr>
          <p:spPr>
            <a:xfrm>
              <a:off x="0" y="0"/>
              <a:ext cx="11696700" cy="13716000"/>
            </a:xfrm>
            <a:custGeom>
              <a:avLst/>
              <a:gdLst/>
              <a:ahLst/>
              <a:cxnLst/>
              <a:rect l="l" t="t" r="r" b="b"/>
              <a:pathLst>
                <a:path w="11696700" h="13716000">
                  <a:moveTo>
                    <a:pt x="0" y="0"/>
                  </a:moveTo>
                  <a:lnTo>
                    <a:pt x="11696700" y="0"/>
                  </a:lnTo>
                  <a:lnTo>
                    <a:pt x="116967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6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72695" y="2130330"/>
            <a:ext cx="6241829" cy="439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719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¿Qué es?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72695" y="2665261"/>
            <a:ext cx="6855149" cy="2150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 un ecosistema inteligente compuesto por una Web App y una Extensión de Navegador. Funciona como un asistente que analiza la oferta, calcula compatibilidad, prepara la información y ayuda al usuario a completar la postulación, manteniendo la acción final bajo control del usuario.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2695" y="6236868"/>
            <a:ext cx="6241829" cy="54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719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¿Cuándo actúa?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6735813"/>
            <a:ext cx="7374583" cy="3541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031" lvl="1" indent="-183515" algn="l">
              <a:lnSpc>
                <a:spcPts val="2582"/>
              </a:lnSpc>
              <a:buFont typeface="Arial"/>
              <a:buChar char="•"/>
            </a:pPr>
            <a:r>
              <a:rPr lang="en-US" sz="170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Antes de postular:</a:t>
            </a:r>
            <a:r>
              <a:rPr lang="en-US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usuario centraliza su información. La IA escanea la oferta laboral específica e indica el match % de la oferta contra el curriculum del usuario.</a:t>
            </a:r>
          </a:p>
          <a:p>
            <a:pPr algn="l">
              <a:lnSpc>
                <a:spcPts val="2582"/>
              </a:lnSpc>
            </a:pPr>
            <a:r>
              <a:rPr lang="en-US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367031" lvl="1" indent="-183515" algn="l">
              <a:lnSpc>
                <a:spcPts val="2582"/>
              </a:lnSpc>
              <a:buFont typeface="Arial"/>
              <a:buChar char="•"/>
            </a:pPr>
            <a:r>
              <a:rPr lang="en-US" sz="170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Durante la postulación:</a:t>
            </a:r>
            <a:r>
              <a:rPr lang="en-US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asistente toma las preguntas, prepara los datos y autocompleta el formulario web en 1 clic para evitar el tipeo manual. </a:t>
            </a:r>
          </a:p>
          <a:p>
            <a:pPr algn="l">
              <a:lnSpc>
                <a:spcPts val="2582"/>
              </a:lnSpc>
            </a:pPr>
            <a:endParaRPr lang="en-US"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67031" lvl="1" indent="-183515" algn="l">
              <a:lnSpc>
                <a:spcPts val="2582"/>
              </a:lnSpc>
              <a:buFont typeface="Arial"/>
              <a:buChar char="•"/>
            </a:pPr>
            <a:r>
              <a:rPr lang="en-US" sz="1700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Después de postular:</a:t>
            </a:r>
            <a:r>
              <a:rPr lang="en-US" sz="17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Registra automáticamente el envío y el estado en un tablero Kanban. </a:t>
            </a:r>
          </a:p>
          <a:p>
            <a:pPr algn="l">
              <a:lnSpc>
                <a:spcPts val="2582"/>
              </a:lnSpc>
            </a:pPr>
            <a:endParaRPr lang="en-US" sz="17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>
            <a:off x="13495" y="0"/>
            <a:ext cx="18274505" cy="10287000"/>
          </a:xfrm>
          <a:custGeom>
            <a:avLst/>
            <a:gdLst/>
            <a:ahLst/>
            <a:cxnLst/>
            <a:rect l="l" t="t" r="r" b="b"/>
            <a:pathLst>
              <a:path w="18274505" h="10287000">
                <a:moveTo>
                  <a:pt x="0" y="0"/>
                </a:moveTo>
                <a:lnTo>
                  <a:pt x="18274505" y="0"/>
                </a:lnTo>
                <a:lnTo>
                  <a:pt x="1827450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</a:blip>
            <a:stretch>
              <a:fillRect t="-18064" b="-8064"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3398282" y="4166664"/>
            <a:ext cx="11491436" cy="14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 b="1">
                <a:solidFill>
                  <a:srgbClr val="06B6D4"/>
                </a:solidFill>
                <a:latin typeface="Poppins Bold"/>
                <a:ea typeface="Poppins Bold"/>
                <a:cs typeface="Poppins Bold"/>
                <a:sym typeface="Poppins Bold"/>
              </a:rPr>
              <a:t>02. Análisis Estratégico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057900" y="5981176"/>
            <a:ext cx="6172200" cy="72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2"/>
              </a:lnSpc>
            </a:pPr>
            <a:r>
              <a:rPr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Propuesta de Valor y Perfil de Usuario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579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71538" y="2343150"/>
            <a:ext cx="5229225" cy="5242846"/>
            <a:chOff x="0" y="0"/>
            <a:chExt cx="6972300" cy="6990461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6972300" cy="6990461"/>
            </a:xfrm>
            <a:custGeom>
              <a:avLst/>
              <a:gdLst/>
              <a:ahLst/>
              <a:cxnLst/>
              <a:rect l="l" t="t" r="r" b="b"/>
              <a:pathLst>
                <a:path w="6972300" h="6990461">
                  <a:moveTo>
                    <a:pt x="0" y="0"/>
                  </a:moveTo>
                  <a:lnTo>
                    <a:pt x="6972300" y="0"/>
                  </a:lnTo>
                  <a:lnTo>
                    <a:pt x="6972300" y="6990461"/>
                  </a:lnTo>
                  <a:lnTo>
                    <a:pt x="0" y="6990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29388" y="2343150"/>
            <a:ext cx="5229225" cy="5242846"/>
            <a:chOff x="0" y="0"/>
            <a:chExt cx="6972300" cy="6990461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6972300" cy="6990461"/>
            </a:xfrm>
            <a:custGeom>
              <a:avLst/>
              <a:gdLst/>
              <a:ahLst/>
              <a:cxnLst/>
              <a:rect l="l" t="t" r="r" b="b"/>
              <a:pathLst>
                <a:path w="6972300" h="6990461">
                  <a:moveTo>
                    <a:pt x="0" y="0"/>
                  </a:moveTo>
                  <a:lnTo>
                    <a:pt x="6972300" y="0"/>
                  </a:lnTo>
                  <a:lnTo>
                    <a:pt x="6972300" y="6990461"/>
                  </a:lnTo>
                  <a:lnTo>
                    <a:pt x="0" y="6990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3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87238" y="2343150"/>
            <a:ext cx="5229225" cy="5242846"/>
            <a:chOff x="0" y="0"/>
            <a:chExt cx="6972300" cy="6990461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6972300" cy="6990461"/>
            </a:xfrm>
            <a:custGeom>
              <a:avLst/>
              <a:gdLst/>
              <a:ahLst/>
              <a:cxnLst/>
              <a:rect l="l" t="t" r="r" b="b"/>
              <a:pathLst>
                <a:path w="6972300" h="6990461">
                  <a:moveTo>
                    <a:pt x="0" y="0"/>
                  </a:moveTo>
                  <a:lnTo>
                    <a:pt x="6972300" y="0"/>
                  </a:lnTo>
                  <a:lnTo>
                    <a:pt x="6972300" y="6990461"/>
                  </a:lnTo>
                  <a:lnTo>
                    <a:pt x="0" y="6990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53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85888" y="3852862"/>
            <a:ext cx="441055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Producto/Servicio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5888" y="4533900"/>
            <a:ext cx="4200525" cy="2014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 Perfil Maestro en la nube, acoplado a un Asistente de Navegador y un Dashboard de trazabilidad Kanban omnicanal.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43738" y="3852862"/>
            <a:ext cx="441055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Ganancias Creadas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43738" y="4533900"/>
            <a:ext cx="4200525" cy="252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Gestión de variables exclusivas de Chile (RUT, Comunas). Además, un motor de IA que pre-analiza el "Match ATS" de la oferta.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01588" y="3852862"/>
            <a:ext cx="441055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Pain Relievers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01588" y="4533900"/>
            <a:ext cx="4200525" cy="252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Evita bloqueos de IP (Cloudflare) actuando en Client-Side. Elimina la repetición manual de tipeo y centraliza la información esparcida.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85888" y="2914650"/>
            <a:ext cx="600075" cy="600075"/>
            <a:chOff x="0" y="0"/>
            <a:chExt cx="800100" cy="8001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043738" y="2914650"/>
            <a:ext cx="671512" cy="600075"/>
            <a:chOff x="0" y="0"/>
            <a:chExt cx="895350" cy="8001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895350" cy="800100"/>
            </a:xfrm>
            <a:custGeom>
              <a:avLst/>
              <a:gdLst/>
              <a:ahLst/>
              <a:cxnLst/>
              <a:rect l="l" t="t" r="r" b="b"/>
              <a:pathLst>
                <a:path w="895350" h="800100">
                  <a:moveTo>
                    <a:pt x="0" y="0"/>
                  </a:moveTo>
                  <a:lnTo>
                    <a:pt x="895350" y="0"/>
                  </a:lnTo>
                  <a:lnTo>
                    <a:pt x="8953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212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701588" y="2914650"/>
            <a:ext cx="671512" cy="600075"/>
            <a:chOff x="0" y="0"/>
            <a:chExt cx="895350" cy="8001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895350" cy="800100"/>
            </a:xfrm>
            <a:custGeom>
              <a:avLst/>
              <a:gdLst/>
              <a:ahLst/>
              <a:cxnLst/>
              <a:rect l="l" t="t" r="r" b="b"/>
              <a:pathLst>
                <a:path w="895350" h="800100">
                  <a:moveTo>
                    <a:pt x="0" y="0"/>
                  </a:moveTo>
                  <a:lnTo>
                    <a:pt x="895350" y="0"/>
                  </a:lnTo>
                  <a:lnTo>
                    <a:pt x="8953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212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57288" y="823913"/>
            <a:ext cx="17072134" cy="947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Propuesta de Valor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71538" y="871538"/>
            <a:ext cx="85725" cy="900112"/>
            <a:chOff x="0" y="0"/>
            <a:chExt cx="114300" cy="12001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598" y="0"/>
            <a:ext cx="18450598" cy="10807314"/>
            <a:chOff x="0" y="0"/>
            <a:chExt cx="24600798" cy="14409752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600798" cy="14409751"/>
            </a:xfrm>
            <a:custGeom>
              <a:avLst/>
              <a:gdLst/>
              <a:ahLst/>
              <a:cxnLst/>
              <a:rect l="l" t="t" r="r" b="b"/>
              <a:pathLst>
                <a:path w="24600798" h="14409751">
                  <a:moveTo>
                    <a:pt x="0" y="0"/>
                  </a:moveTo>
                  <a:lnTo>
                    <a:pt x="24600798" y="0"/>
                  </a:lnTo>
                  <a:lnTo>
                    <a:pt x="24600798" y="14409751"/>
                  </a:lnTo>
                  <a:lnTo>
                    <a:pt x="0" y="14409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66" r="-206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71538" y="2343150"/>
            <a:ext cx="5229225" cy="5242846"/>
            <a:chOff x="0" y="0"/>
            <a:chExt cx="6972300" cy="6990461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6972300" cy="6990461"/>
            </a:xfrm>
            <a:custGeom>
              <a:avLst/>
              <a:gdLst/>
              <a:ahLst/>
              <a:cxnLst/>
              <a:rect l="l" t="t" r="r" b="b"/>
              <a:pathLst>
                <a:path w="6972300" h="6990461">
                  <a:moveTo>
                    <a:pt x="0" y="0"/>
                  </a:moveTo>
                  <a:lnTo>
                    <a:pt x="6972300" y="0"/>
                  </a:lnTo>
                  <a:lnTo>
                    <a:pt x="6972300" y="6990461"/>
                  </a:lnTo>
                  <a:lnTo>
                    <a:pt x="0" y="6990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6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529388" y="2343150"/>
            <a:ext cx="5229225" cy="5242846"/>
            <a:chOff x="0" y="0"/>
            <a:chExt cx="6972300" cy="6990461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6972300" cy="6990461"/>
            </a:xfrm>
            <a:custGeom>
              <a:avLst/>
              <a:gdLst/>
              <a:ahLst/>
              <a:cxnLst/>
              <a:rect l="l" t="t" r="r" b="b"/>
              <a:pathLst>
                <a:path w="6972300" h="6990461">
                  <a:moveTo>
                    <a:pt x="0" y="0"/>
                  </a:moveTo>
                  <a:lnTo>
                    <a:pt x="6972300" y="0"/>
                  </a:lnTo>
                  <a:lnTo>
                    <a:pt x="6972300" y="6990461"/>
                  </a:lnTo>
                  <a:lnTo>
                    <a:pt x="0" y="6990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3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87238" y="2343150"/>
            <a:ext cx="5229225" cy="5242846"/>
            <a:chOff x="0" y="0"/>
            <a:chExt cx="6972300" cy="6990461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6972300" cy="6990461"/>
            </a:xfrm>
            <a:custGeom>
              <a:avLst/>
              <a:gdLst/>
              <a:ahLst/>
              <a:cxnLst/>
              <a:rect l="l" t="t" r="r" b="b"/>
              <a:pathLst>
                <a:path w="6972300" h="6990461">
                  <a:moveTo>
                    <a:pt x="0" y="0"/>
                  </a:moveTo>
                  <a:lnTo>
                    <a:pt x="6972300" y="0"/>
                  </a:lnTo>
                  <a:lnTo>
                    <a:pt x="6972300" y="6990461"/>
                  </a:lnTo>
                  <a:lnTo>
                    <a:pt x="0" y="6990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53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85888" y="3852862"/>
            <a:ext cx="441055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Ganancias (Gains)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5888" y="4533900"/>
            <a:ext cx="4200525" cy="252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Aumenta la tasa de éxito al pre-evaluar el CV contra el "Filtro ATS" de las empresas. Brinda una ventaja competitiva al gestionar métricas locales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43738" y="3852862"/>
            <a:ext cx="441055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Contras (Pains)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43738" y="4524375"/>
            <a:ext cx="4200525" cy="1417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estrés de los formularios web redundantes y la falta de feedback tras postular.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01588" y="3852862"/>
            <a:ext cx="4410551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¿Cómo le ayuda?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01588" y="4524375"/>
            <a:ext cx="4200525" cy="2389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38"/>
              </a:lnSpc>
            </a:pPr>
            <a:r>
              <a:rPr lang="en-US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Elimina la fatiga de postulación al borrar el tipeo repetitivo. Termina con el desorden y la incertidumbre al centralizar todo el historial en un solo lugar.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85888" y="2914650"/>
            <a:ext cx="600075" cy="600075"/>
            <a:chOff x="0" y="0"/>
            <a:chExt cx="800100" cy="800100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043738" y="2914650"/>
            <a:ext cx="600075" cy="600075"/>
            <a:chOff x="0" y="0"/>
            <a:chExt cx="800100" cy="8001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238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701588" y="2914650"/>
            <a:ext cx="757238" cy="600075"/>
            <a:chOff x="0" y="0"/>
            <a:chExt cx="1009650" cy="800100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1009650" cy="800100"/>
            </a:xfrm>
            <a:custGeom>
              <a:avLst/>
              <a:gdLst/>
              <a:ahLst/>
              <a:cxnLst/>
              <a:rect l="l" t="t" r="r" b="b"/>
              <a:pathLst>
                <a:path w="1009650" h="800100">
                  <a:moveTo>
                    <a:pt x="0" y="0"/>
                  </a:moveTo>
                  <a:lnTo>
                    <a:pt x="1009650" y="0"/>
                  </a:lnTo>
                  <a:lnTo>
                    <a:pt x="10096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188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157288" y="823913"/>
            <a:ext cx="17072134" cy="947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Perfil del Usuario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871538" y="871538"/>
            <a:ext cx="85725" cy="900112"/>
            <a:chOff x="0" y="0"/>
            <a:chExt cx="114300" cy="12001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2598" y="0"/>
            <a:ext cx="18450598" cy="10807314"/>
            <a:chOff x="0" y="0"/>
            <a:chExt cx="24600798" cy="14409752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600798" cy="14409751"/>
            </a:xfrm>
            <a:custGeom>
              <a:avLst/>
              <a:gdLst/>
              <a:ahLst/>
              <a:cxnLst/>
              <a:rect l="l" t="t" r="r" b="b"/>
              <a:pathLst>
                <a:path w="24600798" h="14409751">
                  <a:moveTo>
                    <a:pt x="0" y="0"/>
                  </a:moveTo>
                  <a:lnTo>
                    <a:pt x="24600798" y="0"/>
                  </a:lnTo>
                  <a:lnTo>
                    <a:pt x="24600798" y="14409751"/>
                  </a:lnTo>
                  <a:lnTo>
                    <a:pt x="0" y="14409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066" r="-206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57181" y="2782234"/>
            <a:ext cx="7332161" cy="6749588"/>
            <a:chOff x="0" y="0"/>
            <a:chExt cx="9776214" cy="8999451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9776214" cy="8999451"/>
            </a:xfrm>
            <a:custGeom>
              <a:avLst/>
              <a:gdLst/>
              <a:ahLst/>
              <a:cxnLst/>
              <a:rect l="l" t="t" r="r" b="b"/>
              <a:pathLst>
                <a:path w="9776214" h="8999451">
                  <a:moveTo>
                    <a:pt x="0" y="0"/>
                  </a:moveTo>
                  <a:lnTo>
                    <a:pt x="9776214" y="0"/>
                  </a:lnTo>
                  <a:lnTo>
                    <a:pt x="9776214" y="8999451"/>
                  </a:lnTo>
                  <a:lnTo>
                    <a:pt x="0" y="899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57" r="-260" b="-445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458885" y="2782234"/>
            <a:ext cx="7981033" cy="6749588"/>
            <a:chOff x="0" y="0"/>
            <a:chExt cx="9572614" cy="8095594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9572613" cy="8095594"/>
            </a:xfrm>
            <a:custGeom>
              <a:avLst/>
              <a:gdLst/>
              <a:ahLst/>
              <a:cxnLst/>
              <a:rect l="l" t="t" r="r" b="b"/>
              <a:pathLst>
                <a:path w="9572613" h="8095594">
                  <a:moveTo>
                    <a:pt x="0" y="0"/>
                  </a:moveTo>
                  <a:lnTo>
                    <a:pt x="9572613" y="0"/>
                  </a:lnTo>
                  <a:lnTo>
                    <a:pt x="9572613" y="8095594"/>
                  </a:lnTo>
                  <a:lnTo>
                    <a:pt x="0" y="80955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276" r="-533" b="-927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71531" y="3248721"/>
            <a:ext cx="615577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Modelo Freemium B2C (MVP)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4655" y="4032224"/>
            <a:ext cx="6704536" cy="5655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 algn="l">
              <a:lnSpc>
                <a:spcPts val="3454"/>
              </a:lnSpc>
              <a:buFont typeface="Arial"/>
              <a:buChar char="•"/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Usuario Final: Abarca tres segmentos clave: búsqueda activa (desempleados), movilidad laboral (profesionales empleados buscando mejoras) y primer empleo (recién egresados o perfiles junior).</a:t>
            </a:r>
          </a:p>
          <a:p>
            <a:pPr algn="l">
              <a:lnSpc>
                <a:spcPts val="3454"/>
              </a:lnSpc>
            </a:pPr>
            <a:endParaRPr lang="en-US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88620" lvl="1" indent="-194310" algn="l">
              <a:lnSpc>
                <a:spcPts val="3454"/>
              </a:lnSpc>
              <a:buFont typeface="Arial"/>
              <a:buChar char="•"/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Capa Gratuita: Uso de la extensión de manera limitada (ej. 5 consultas mensuales) y organización en el tablero Kanban.</a:t>
            </a:r>
          </a:p>
          <a:p>
            <a:pPr algn="l">
              <a:lnSpc>
                <a:spcPts val="3454"/>
              </a:lnSpc>
            </a:pPr>
            <a:endParaRPr lang="en-US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88620" lvl="1" indent="-194310" algn="l">
              <a:lnSpc>
                <a:spcPts val="3454"/>
              </a:lnSpc>
              <a:buFont typeface="Arial"/>
              <a:buChar char="•"/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Monetización: Suscripción mensual de bajo costo (Premium) para desbloquear consultas ilimitadas a la IA y optimizaciones avanzadas de CV.</a:t>
            </a:r>
          </a:p>
          <a:p>
            <a:pPr algn="l">
              <a:lnSpc>
                <a:spcPts val="3454"/>
              </a:lnSpc>
            </a:pPr>
            <a:endParaRPr lang="en-US" sz="18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062701" y="3229671"/>
            <a:ext cx="6731543" cy="567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2"/>
              </a:lnSpc>
            </a:pPr>
            <a:r>
              <a:rPr lang="en-US" sz="3501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Modelo B2B (Alcance Futuro)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59302" y="4022699"/>
            <a:ext cx="7538340" cy="4531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3646"/>
              </a:lnSpc>
              <a:buFont typeface="Arial"/>
              <a:buChar char="•"/>
            </a:pPr>
            <a:r>
              <a:rPr lang="en-US" sz="1899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Cliente Corporativo: Instituciones de Educación Superior y Bootcamps tecnológicos.</a:t>
            </a:r>
          </a:p>
          <a:p>
            <a:pPr algn="l">
              <a:lnSpc>
                <a:spcPts val="3646"/>
              </a:lnSpc>
            </a:pPr>
            <a:endParaRPr lang="en-US" sz="1899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10209" lvl="1" indent="-205105" algn="l">
              <a:lnSpc>
                <a:spcPts val="3646"/>
              </a:lnSpc>
              <a:buFont typeface="Arial"/>
              <a:buChar char="•"/>
            </a:pPr>
            <a:r>
              <a:rPr lang="en-US" sz="1899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Oferta: Licenciamiento anual para proveer la herramienta AltoqueCV a todos sus alumnos y egresados como beneficio.</a:t>
            </a:r>
          </a:p>
          <a:p>
            <a:pPr algn="l">
              <a:lnSpc>
                <a:spcPts val="3646"/>
              </a:lnSpc>
            </a:pPr>
            <a:endParaRPr lang="en-US" sz="1899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10209" lvl="1" indent="-205105" algn="l">
              <a:lnSpc>
                <a:spcPts val="3646"/>
              </a:lnSpc>
              <a:buFont typeface="Arial"/>
              <a:buChar char="•"/>
            </a:pPr>
            <a:r>
              <a:rPr lang="en-US" sz="1899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Retorno de Valor: La institución obtiene acceso a un dashboard estratégico con métricas reales y anonimizadas sobre la empleabilidad y tiempos de inserción de sus titulados.</a:t>
            </a:r>
          </a:p>
          <a:p>
            <a:pPr algn="l">
              <a:lnSpc>
                <a:spcPts val="3646"/>
              </a:lnSpc>
            </a:pPr>
            <a:endParaRPr lang="en-US" sz="1899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157288" y="823913"/>
            <a:ext cx="1707213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Monetización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71538" y="871538"/>
            <a:ext cx="85725" cy="900112"/>
            <a:chOff x="0" y="0"/>
            <a:chExt cx="114300" cy="12001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96753" y="-103137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71538" y="2343150"/>
            <a:ext cx="7915275" cy="7072312"/>
            <a:chOff x="0" y="0"/>
            <a:chExt cx="10553700" cy="94297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53700" cy="9429750"/>
            </a:xfrm>
            <a:custGeom>
              <a:avLst/>
              <a:gdLst/>
              <a:ahLst/>
              <a:cxnLst/>
              <a:rect l="l" t="t" r="r" b="b"/>
              <a:pathLst>
                <a:path w="10553700" h="9429750">
                  <a:moveTo>
                    <a:pt x="0" y="0"/>
                  </a:moveTo>
                  <a:lnTo>
                    <a:pt x="10553700" y="0"/>
                  </a:lnTo>
                  <a:lnTo>
                    <a:pt x="10553700" y="9429750"/>
                  </a:lnTo>
                  <a:lnTo>
                    <a:pt x="0" y="942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2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01188" y="2343150"/>
            <a:ext cx="7915275" cy="7072312"/>
            <a:chOff x="0" y="0"/>
            <a:chExt cx="10553700" cy="94297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553700" cy="9429750"/>
            </a:xfrm>
            <a:custGeom>
              <a:avLst/>
              <a:gdLst/>
              <a:ahLst/>
              <a:cxnLst/>
              <a:rect l="l" t="t" r="r" b="b"/>
              <a:pathLst>
                <a:path w="10553700" h="9429750">
                  <a:moveTo>
                    <a:pt x="0" y="0"/>
                  </a:moveTo>
                  <a:lnTo>
                    <a:pt x="10553700" y="0"/>
                  </a:lnTo>
                  <a:lnTo>
                    <a:pt x="10553700" y="9429750"/>
                  </a:lnTo>
                  <a:lnTo>
                    <a:pt x="0" y="9429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2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59243" y="2905125"/>
            <a:ext cx="686895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 que SÍ hace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47509" y="2905125"/>
            <a:ext cx="686895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 que NO hace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85888" y="2943225"/>
            <a:ext cx="400050" cy="400050"/>
            <a:chOff x="0" y="0"/>
            <a:chExt cx="533400" cy="5334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885950" y="3733800"/>
            <a:ext cx="6386512" cy="586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Creación de Perfil Maestro estandarizado.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85950" y="4425182"/>
            <a:ext cx="6386512" cy="98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Soporte inicial de asistencia para los 2 portales más grandes en el mercado chileno.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85950" y="5550770"/>
            <a:ext cx="6386512" cy="47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Análisis de IA (% de Match)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85950" y="6242152"/>
            <a:ext cx="6386512" cy="98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Registro y trazabilidad automática en tablero Kanban.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85950" y="7367740"/>
            <a:ext cx="6386512" cy="98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Pruebas E2E automatizadas para control de cambios.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015538" y="2943225"/>
            <a:ext cx="400050" cy="400050"/>
            <a:chOff x="0" y="0"/>
            <a:chExt cx="533400" cy="53340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0"/>
                  </a:moveTo>
                  <a:lnTo>
                    <a:pt x="533400" y="0"/>
                  </a:lnTo>
                  <a:lnTo>
                    <a:pt x="533400" y="533400"/>
                  </a:lnTo>
                  <a:lnTo>
                    <a:pt x="0" y="533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515600" y="3733800"/>
            <a:ext cx="6386512" cy="98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evade CAPTCHAs invasivos (requiere clic final humano).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15600" y="4859388"/>
            <a:ext cx="6386512" cy="102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funciona sin que el usuario inicie su propia sesión en el portal destino.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15600" y="5984977"/>
            <a:ext cx="6386512" cy="102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envía postulaciones masivas en segundo plano sin consentimiento.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515600" y="7110565"/>
            <a:ext cx="6386512" cy="102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soporta navegadores fuera del ecosistema Chromium en su fase MVP.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57288" y="823913"/>
            <a:ext cx="1707213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Alcances y Objetivos Generales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71538" y="871538"/>
            <a:ext cx="85725" cy="900112"/>
            <a:chOff x="0" y="0"/>
            <a:chExt cx="114300" cy="12001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85888" y="3914775"/>
            <a:ext cx="171450" cy="300038"/>
            <a:chOff x="0" y="0"/>
            <a:chExt cx="228600" cy="40005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385888" y="4606157"/>
            <a:ext cx="171450" cy="300038"/>
            <a:chOff x="0" y="0"/>
            <a:chExt cx="228600" cy="40005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385888" y="5731745"/>
            <a:ext cx="171450" cy="300038"/>
            <a:chOff x="0" y="0"/>
            <a:chExt cx="228600" cy="40005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85888" y="6423127"/>
            <a:ext cx="171450" cy="300038"/>
            <a:chOff x="0" y="0"/>
            <a:chExt cx="228600" cy="40005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85888" y="7548715"/>
            <a:ext cx="171450" cy="300038"/>
            <a:chOff x="0" y="0"/>
            <a:chExt cx="228600" cy="400050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15538" y="3914775"/>
            <a:ext cx="171450" cy="300038"/>
            <a:chOff x="0" y="0"/>
            <a:chExt cx="228600" cy="400050"/>
          </a:xfrm>
        </p:grpSpPr>
        <p:sp>
          <p:nvSpPr>
            <p:cNvPr id="37" name="Freeform 37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15538" y="5040363"/>
            <a:ext cx="171450" cy="300038"/>
            <a:chOff x="0" y="0"/>
            <a:chExt cx="228600" cy="400050"/>
          </a:xfrm>
        </p:grpSpPr>
        <p:sp>
          <p:nvSpPr>
            <p:cNvPr id="39" name="Freeform 39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15538" y="6165952"/>
            <a:ext cx="171450" cy="300038"/>
            <a:chOff x="0" y="0"/>
            <a:chExt cx="228600" cy="400050"/>
          </a:xfrm>
        </p:grpSpPr>
        <p:sp>
          <p:nvSpPr>
            <p:cNvPr id="41" name="Freeform 41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15538" y="7291540"/>
            <a:ext cx="171450" cy="300038"/>
            <a:chOff x="0" y="0"/>
            <a:chExt cx="228600" cy="400050"/>
          </a:xfrm>
        </p:grpSpPr>
        <p:sp>
          <p:nvSpPr>
            <p:cNvPr id="43" name="Freeform 43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0547509" y="8201218"/>
            <a:ext cx="6386512" cy="985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postula directamente a páginas web del empleador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0042752" y="8353618"/>
            <a:ext cx="172811" cy="302419"/>
            <a:chOff x="0" y="0"/>
            <a:chExt cx="228600" cy="400050"/>
          </a:xfrm>
        </p:grpSpPr>
        <p:sp>
          <p:nvSpPr>
            <p:cNvPr id="46" name="Freeform 46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71538" y="2343150"/>
            <a:ext cx="7915275" cy="6807787"/>
            <a:chOff x="0" y="0"/>
            <a:chExt cx="10553700" cy="9077049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53700" cy="9077049"/>
            </a:xfrm>
            <a:custGeom>
              <a:avLst/>
              <a:gdLst/>
              <a:ahLst/>
              <a:cxnLst/>
              <a:rect l="l" t="t" r="r" b="b"/>
              <a:pathLst>
                <a:path w="10553700" h="9077049">
                  <a:moveTo>
                    <a:pt x="0" y="0"/>
                  </a:moveTo>
                  <a:lnTo>
                    <a:pt x="10553700" y="0"/>
                  </a:lnTo>
                  <a:lnTo>
                    <a:pt x="10553700" y="9077049"/>
                  </a:lnTo>
                  <a:lnTo>
                    <a:pt x="0" y="9077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942" b="-217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501188" y="2343150"/>
            <a:ext cx="7915275" cy="6807787"/>
            <a:chOff x="0" y="0"/>
            <a:chExt cx="10553700" cy="9077049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553700" cy="9077049"/>
            </a:xfrm>
            <a:custGeom>
              <a:avLst/>
              <a:gdLst/>
              <a:ahLst/>
              <a:cxnLst/>
              <a:rect l="l" t="t" r="r" b="b"/>
              <a:pathLst>
                <a:path w="10553700" h="9077049">
                  <a:moveTo>
                    <a:pt x="0" y="0"/>
                  </a:moveTo>
                  <a:lnTo>
                    <a:pt x="10553700" y="0"/>
                  </a:lnTo>
                  <a:lnTo>
                    <a:pt x="10553700" y="9077049"/>
                  </a:lnTo>
                  <a:lnTo>
                    <a:pt x="0" y="9077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942" b="-2174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85888" y="3852862"/>
            <a:ext cx="7230904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Costos Operativos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5888" y="4573627"/>
            <a:ext cx="6886575" cy="4840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3838"/>
              </a:lnSpc>
              <a:buFont typeface="Arial"/>
              <a:buChar char="•"/>
            </a:pPr>
            <a:r>
              <a:rPr lang="en-US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IA se utiliza para analizar el texto de la vacante y compararlo con el Perfil del usuario para calcular compatibilidad y sugerir palabras clave. También, se utiliza para generar sugerencias de respuestas a las preguntas personalizadas que el reclutador incluye en el formulario de la oferta oferta de empleo. </a:t>
            </a:r>
          </a:p>
          <a:p>
            <a:pPr algn="l">
              <a:lnSpc>
                <a:spcPts val="3838"/>
              </a:lnSpc>
            </a:pPr>
            <a:endParaRPr lang="en-US" sz="2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31801" lvl="1" indent="-215900" algn="l">
              <a:lnSpc>
                <a:spcPts val="3838"/>
              </a:lnSpc>
              <a:buFont typeface="Arial"/>
              <a:buChar char="•"/>
            </a:pPr>
            <a:r>
              <a:rPr lang="en-US" sz="20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 mayor desafío es el costo operativo por consumo de tokens de la API.</a:t>
            </a:r>
          </a:p>
          <a:p>
            <a:pPr algn="l">
              <a:lnSpc>
                <a:spcPts val="4102"/>
              </a:lnSpc>
            </a:pPr>
            <a:endParaRPr lang="en-US" sz="2000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015538" y="3852862"/>
            <a:ext cx="7230904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3150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Resistencia al Cambio y Mutabilidad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015538" y="5219700"/>
            <a:ext cx="6886575" cy="3361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7"/>
              </a:lnSpc>
            </a:pPr>
            <a:r>
              <a:rPr lang="en-US" sz="2137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Mutabilidad: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Los portales cambian su código fuente HTML sin avisar, rompiendo temporalmente el autocompletado. (Mitigado mediante scripts diarios de Cypress). </a:t>
            </a:r>
          </a:p>
          <a:p>
            <a:pPr algn="l">
              <a:lnSpc>
                <a:spcPts val="4102"/>
              </a:lnSpc>
            </a:pPr>
            <a:endParaRPr lang="en-US" sz="2137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algn="l">
              <a:lnSpc>
                <a:spcPts val="3247"/>
              </a:lnSpc>
            </a:pPr>
            <a:r>
              <a:rPr lang="en-US" sz="2137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Fricción: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Usuarios no técnicos pueden sentir desconfianza al instalar una extensión que lee sus datos en pantalla.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85888" y="2914650"/>
            <a:ext cx="600075" cy="600075"/>
            <a:chOff x="0" y="0"/>
            <a:chExt cx="800100" cy="800100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15538" y="2914650"/>
            <a:ext cx="757238" cy="600075"/>
            <a:chOff x="0" y="0"/>
            <a:chExt cx="1009650" cy="8001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1009650" cy="800100"/>
            </a:xfrm>
            <a:custGeom>
              <a:avLst/>
              <a:gdLst/>
              <a:ahLst/>
              <a:cxnLst/>
              <a:rect l="l" t="t" r="r" b="b"/>
              <a:pathLst>
                <a:path w="1009650" h="800100">
                  <a:moveTo>
                    <a:pt x="0" y="0"/>
                  </a:moveTo>
                  <a:lnTo>
                    <a:pt x="1009650" y="0"/>
                  </a:lnTo>
                  <a:lnTo>
                    <a:pt x="1009650" y="800100"/>
                  </a:lnTo>
                  <a:lnTo>
                    <a:pt x="0" y="800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57288" y="823913"/>
            <a:ext cx="1707213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Desafíos y limitaciones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71538" y="871538"/>
            <a:ext cx="85725" cy="900112"/>
            <a:chOff x="0" y="0"/>
            <a:chExt cx="114300" cy="12001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525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64394" y="2336006"/>
            <a:ext cx="16559212" cy="1916982"/>
            <a:chOff x="0" y="0"/>
            <a:chExt cx="22078950" cy="255597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78950" cy="2555875"/>
            </a:xfrm>
            <a:custGeom>
              <a:avLst/>
              <a:gdLst/>
              <a:ahLst/>
              <a:cxnLst/>
              <a:rect l="l" t="t" r="r" b="b"/>
              <a:pathLst>
                <a:path w="22078950" h="2555875">
                  <a:moveTo>
                    <a:pt x="0" y="230251"/>
                  </a:moveTo>
                  <a:cubicBezTo>
                    <a:pt x="0" y="103124"/>
                    <a:pt x="103124" y="0"/>
                    <a:pt x="230251" y="0"/>
                  </a:cubicBezTo>
                  <a:lnTo>
                    <a:pt x="21848699" y="0"/>
                  </a:lnTo>
                  <a:cubicBezTo>
                    <a:pt x="21975826" y="0"/>
                    <a:pt x="22078950" y="103124"/>
                    <a:pt x="22078950" y="230251"/>
                  </a:cubicBezTo>
                  <a:lnTo>
                    <a:pt x="22078950" y="2325624"/>
                  </a:lnTo>
                  <a:cubicBezTo>
                    <a:pt x="22078950" y="2452751"/>
                    <a:pt x="21975826" y="2555875"/>
                    <a:pt x="21848699" y="2555875"/>
                  </a:cubicBezTo>
                  <a:lnTo>
                    <a:pt x="230251" y="2555875"/>
                  </a:lnTo>
                  <a:cubicBezTo>
                    <a:pt x="103124" y="2556002"/>
                    <a:pt x="0" y="2452878"/>
                    <a:pt x="0" y="2325624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8788" y="2476500"/>
            <a:ext cx="15401925" cy="98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Modelo B2B Institucional: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Entregar licenciamiento anual a instituciones educativas. La institución brinda la herramienta a sus estudiantes y a cambio recibe un panel con métricas reales de empleabilidad de sus egresados.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64394" y="4453014"/>
            <a:ext cx="16559212" cy="1482776"/>
            <a:chOff x="0" y="0"/>
            <a:chExt cx="22078950" cy="19770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2078950" cy="1977009"/>
            </a:xfrm>
            <a:custGeom>
              <a:avLst/>
              <a:gdLst/>
              <a:ahLst/>
              <a:cxnLst/>
              <a:rect l="l" t="t" r="r" b="b"/>
              <a:pathLst>
                <a:path w="22078950" h="1977009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21848190" y="0"/>
                  </a:lnTo>
                  <a:cubicBezTo>
                    <a:pt x="21975699" y="0"/>
                    <a:pt x="22078950" y="103378"/>
                    <a:pt x="22078950" y="230759"/>
                  </a:cubicBezTo>
                  <a:lnTo>
                    <a:pt x="22078950" y="1746250"/>
                  </a:lnTo>
                  <a:cubicBezTo>
                    <a:pt x="22078950" y="1873758"/>
                    <a:pt x="21975572" y="1977009"/>
                    <a:pt x="21848190" y="1977009"/>
                  </a:cubicBezTo>
                  <a:lnTo>
                    <a:pt x="230759" y="1977009"/>
                  </a:lnTo>
                  <a:cubicBezTo>
                    <a:pt x="103378" y="1977009"/>
                    <a:pt x="0" y="1873631"/>
                    <a:pt x="0" y="174625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28788" y="4593507"/>
            <a:ext cx="15401925" cy="98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Expansión de Portales: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Aumentar la cobertura del asistente para abarcar ecosistemas ATS cerrados (como Aira, Buk, Rex+) y plataformas internacionales usadas en Chile (LinkedIn, Get on Board).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64394" y="6135814"/>
            <a:ext cx="16559212" cy="1482776"/>
            <a:chOff x="0" y="0"/>
            <a:chExt cx="22078950" cy="197703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078950" cy="1977009"/>
            </a:xfrm>
            <a:custGeom>
              <a:avLst/>
              <a:gdLst/>
              <a:ahLst/>
              <a:cxnLst/>
              <a:rect l="l" t="t" r="r" b="b"/>
              <a:pathLst>
                <a:path w="22078950" h="1977009">
                  <a:moveTo>
                    <a:pt x="0" y="230759"/>
                  </a:moveTo>
                  <a:cubicBezTo>
                    <a:pt x="0" y="103378"/>
                    <a:pt x="103378" y="0"/>
                    <a:pt x="230759" y="0"/>
                  </a:cubicBezTo>
                  <a:lnTo>
                    <a:pt x="21848190" y="0"/>
                  </a:lnTo>
                  <a:cubicBezTo>
                    <a:pt x="21975699" y="0"/>
                    <a:pt x="22078950" y="103378"/>
                    <a:pt x="22078950" y="230759"/>
                  </a:cubicBezTo>
                  <a:lnTo>
                    <a:pt x="22078950" y="1746250"/>
                  </a:lnTo>
                  <a:cubicBezTo>
                    <a:pt x="22078950" y="1873758"/>
                    <a:pt x="21975572" y="1977009"/>
                    <a:pt x="21848190" y="1977009"/>
                  </a:cubicBezTo>
                  <a:lnTo>
                    <a:pt x="230759" y="1977009"/>
                  </a:lnTo>
                  <a:cubicBezTo>
                    <a:pt x="103378" y="1977009"/>
                    <a:pt x="0" y="1873631"/>
                    <a:pt x="0" y="1746250"/>
                  </a:cubicBezTo>
                  <a:close/>
                </a:path>
              </a:pathLst>
            </a:custGeom>
            <a:solidFill>
              <a:srgbClr val="1E293B"/>
            </a:solidFill>
            <a:ln w="14288" cap="sq">
              <a:solidFill>
                <a:srgbClr val="334155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28788" y="6276308"/>
            <a:ext cx="15401925" cy="985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Aplicación Móvil Nativa: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Aunque el autocompletado requiere un navegador de escritorio, desarrollar una App móvil exclusiva para recibir notificaciones push, alertas de entrevistas y gestionar el tablero Kanban on-the-go. 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71538" y="4231557"/>
            <a:ext cx="16544925" cy="14288"/>
            <a:chOff x="0" y="0"/>
            <a:chExt cx="22059900" cy="190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1538" y="5914358"/>
            <a:ext cx="16544925" cy="14288"/>
            <a:chOff x="0" y="0"/>
            <a:chExt cx="22059900" cy="190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1538" y="7597150"/>
            <a:ext cx="16544925" cy="14288"/>
            <a:chOff x="0" y="0"/>
            <a:chExt cx="22059900" cy="190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2059900" cy="19050"/>
            </a:xfrm>
            <a:custGeom>
              <a:avLst/>
              <a:gdLst/>
              <a:ahLst/>
              <a:cxnLst/>
              <a:rect l="l" t="t" r="r" b="b"/>
              <a:pathLst>
                <a:path w="22059900" h="19050">
                  <a:moveTo>
                    <a:pt x="0" y="0"/>
                  </a:moveTo>
                  <a:lnTo>
                    <a:pt x="22059900" y="0"/>
                  </a:lnTo>
                  <a:lnTo>
                    <a:pt x="220599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71575" y="2657475"/>
            <a:ext cx="257175" cy="371475"/>
            <a:chOff x="0" y="0"/>
            <a:chExt cx="342900" cy="49530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342900" cy="495300"/>
            </a:xfrm>
            <a:custGeom>
              <a:avLst/>
              <a:gdLst/>
              <a:ahLst/>
              <a:cxnLst/>
              <a:rect l="l" t="t" r="r" b="b"/>
              <a:pathLst>
                <a:path w="342900" h="495300">
                  <a:moveTo>
                    <a:pt x="0" y="0"/>
                  </a:moveTo>
                  <a:lnTo>
                    <a:pt x="342900" y="0"/>
                  </a:lnTo>
                  <a:lnTo>
                    <a:pt x="3429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71575" y="4774482"/>
            <a:ext cx="428625" cy="371475"/>
            <a:chOff x="0" y="0"/>
            <a:chExt cx="571500" cy="49530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571500" cy="495300"/>
            </a:xfrm>
            <a:custGeom>
              <a:avLst/>
              <a:gdLst/>
              <a:ahLst/>
              <a:cxnLst/>
              <a:rect l="l" t="t" r="r" b="b"/>
              <a:pathLst>
                <a:path w="571500" h="495300">
                  <a:moveTo>
                    <a:pt x="0" y="0"/>
                  </a:moveTo>
                  <a:lnTo>
                    <a:pt x="571500" y="0"/>
                  </a:lnTo>
                  <a:lnTo>
                    <a:pt x="5715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71575" y="6457283"/>
            <a:ext cx="257175" cy="371475"/>
            <a:chOff x="0" y="0"/>
            <a:chExt cx="342900" cy="495300"/>
          </a:xfrm>
        </p:grpSpPr>
        <p:sp>
          <p:nvSpPr>
            <p:cNvPr id="24" name="Freeform 24" descr="image.png"/>
            <p:cNvSpPr/>
            <p:nvPr/>
          </p:nvSpPr>
          <p:spPr>
            <a:xfrm>
              <a:off x="0" y="0"/>
              <a:ext cx="342900" cy="495300"/>
            </a:xfrm>
            <a:custGeom>
              <a:avLst/>
              <a:gdLst/>
              <a:ahLst/>
              <a:cxnLst/>
              <a:rect l="l" t="t" r="r" b="b"/>
              <a:pathLst>
                <a:path w="342900" h="495300">
                  <a:moveTo>
                    <a:pt x="0" y="0"/>
                  </a:moveTo>
                  <a:lnTo>
                    <a:pt x="342900" y="0"/>
                  </a:lnTo>
                  <a:lnTo>
                    <a:pt x="342900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57288" y="823913"/>
            <a:ext cx="17072134" cy="947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Alcances Futuros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871538" y="871538"/>
            <a:ext cx="85725" cy="900112"/>
            <a:chOff x="0" y="0"/>
            <a:chExt cx="114300" cy="120015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71538" y="5850731"/>
            <a:ext cx="16544925" cy="57150"/>
            <a:chOff x="0" y="0"/>
            <a:chExt cx="22059900" cy="762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2059900" cy="76200"/>
            </a:xfrm>
            <a:custGeom>
              <a:avLst/>
              <a:gdLst/>
              <a:ahLst/>
              <a:cxnLst/>
              <a:rect l="l" t="t" r="r" b="b"/>
              <a:pathLst>
                <a:path w="22059900" h="76200">
                  <a:moveTo>
                    <a:pt x="0" y="0"/>
                  </a:moveTo>
                  <a:lnTo>
                    <a:pt x="22059900" y="0"/>
                  </a:lnTo>
                  <a:lnTo>
                    <a:pt x="220599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334155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76411" y="6636544"/>
            <a:ext cx="3995423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Onboarding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1537" y="7098506"/>
            <a:ext cx="3805161" cy="150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 usuario se registra en la Web App y completa su Perfil Maestro.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22923" y="3099492"/>
            <a:ext cx="3995423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 Navegación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18049" y="3561455"/>
            <a:ext cx="3805161" cy="150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Ingresa a portal de empleo, inicia sesión nativa y abre una oferta de interés.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269435" y="6636544"/>
            <a:ext cx="3995423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3. Asistencia Inteligente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64561" y="7098506"/>
            <a:ext cx="3805161" cy="252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Clic en la extensión. El algoritmo mapea los inputs del DOM de la página y autocompleta la data al instante.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15946" y="3533699"/>
            <a:ext cx="3995423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0"/>
              </a:lnSpc>
            </a:pPr>
            <a:r>
              <a:rPr lang="en-US" sz="2475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4. Trazabilidad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611073" y="3995661"/>
            <a:ext cx="3805161" cy="145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 confirmar el envío, se manda un payload a la DB para crear la tarjeta Kanban.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7288" y="823913"/>
            <a:ext cx="1707213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Proceso de Negocio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71538" y="871538"/>
            <a:ext cx="85725" cy="900112"/>
            <a:chOff x="0" y="0"/>
            <a:chExt cx="114300" cy="12001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74093" y="5707856"/>
            <a:ext cx="400050" cy="400050"/>
            <a:chOff x="0" y="0"/>
            <a:chExt cx="533400" cy="5334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F172A"/>
            </a:solidFill>
            <a:ln w="57150" cap="sq">
              <a:solidFill>
                <a:srgbClr val="06B6D4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18967" y="5707856"/>
            <a:ext cx="400050" cy="400050"/>
            <a:chOff x="0" y="0"/>
            <a:chExt cx="533400" cy="533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F172A"/>
            </a:solidFill>
            <a:ln w="57150" cap="sq">
              <a:solidFill>
                <a:srgbClr val="06B6D4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066297" y="5707856"/>
            <a:ext cx="400050" cy="400050"/>
            <a:chOff x="0" y="0"/>
            <a:chExt cx="533400" cy="533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F172A"/>
            </a:solidFill>
            <a:ln w="57150" cap="sq">
              <a:solidFill>
                <a:srgbClr val="06B6D4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313628" y="5707856"/>
            <a:ext cx="400050" cy="400050"/>
            <a:chOff x="0" y="0"/>
            <a:chExt cx="533400" cy="5334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0" y="266700"/>
                  </a:moveTo>
                  <a:cubicBezTo>
                    <a:pt x="0" y="119380"/>
                    <a:pt x="119380" y="0"/>
                    <a:pt x="266700" y="0"/>
                  </a:cubicBezTo>
                  <a:cubicBezTo>
                    <a:pt x="414020" y="0"/>
                    <a:pt x="533400" y="119380"/>
                    <a:pt x="533400" y="266700"/>
                  </a:cubicBezTo>
                  <a:cubicBezTo>
                    <a:pt x="533400" y="414020"/>
                    <a:pt x="414020" y="533400"/>
                    <a:pt x="266700" y="533400"/>
                  </a:cubicBezTo>
                  <a:cubicBezTo>
                    <a:pt x="119380" y="533400"/>
                    <a:pt x="0" y="414020"/>
                    <a:pt x="0" y="266700"/>
                  </a:cubicBezTo>
                  <a:close/>
                </a:path>
              </a:pathLst>
            </a:custGeom>
            <a:solidFill>
              <a:srgbClr val="0F172A"/>
            </a:solidFill>
            <a:ln w="57150" cap="sq">
              <a:solidFill>
                <a:srgbClr val="06B6D4"/>
              </a:solidFill>
              <a:prstDash val="solid"/>
              <a:miter/>
            </a:ln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6554" y="341910"/>
            <a:ext cx="85725" cy="900112"/>
            <a:chOff x="0" y="0"/>
            <a:chExt cx="114300" cy="1200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>
            <a:off x="0" y="2569004"/>
            <a:ext cx="18288000" cy="7717996"/>
          </a:xfrm>
          <a:custGeom>
            <a:avLst/>
            <a:gdLst/>
            <a:ahLst/>
            <a:cxnLst/>
            <a:rect l="l" t="t" r="r" b="b"/>
            <a:pathLst>
              <a:path w="18288000" h="7717996">
                <a:moveTo>
                  <a:pt x="0" y="0"/>
                </a:moveTo>
                <a:lnTo>
                  <a:pt x="18288000" y="0"/>
                </a:lnTo>
                <a:lnTo>
                  <a:pt x="18288000" y="7717996"/>
                </a:lnTo>
                <a:lnTo>
                  <a:pt x="0" y="77179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812304" y="294285"/>
            <a:ext cx="1707213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BPMN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8395" y="242994"/>
            <a:ext cx="85725" cy="900112"/>
            <a:chOff x="0" y="0"/>
            <a:chExt cx="114300" cy="1200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>
            <a:off x="1105639" y="957369"/>
            <a:ext cx="16153661" cy="9258300"/>
          </a:xfrm>
          <a:custGeom>
            <a:avLst/>
            <a:gdLst/>
            <a:ahLst/>
            <a:cxnLst/>
            <a:rect l="l" t="t" r="r" b="b"/>
            <a:pathLst>
              <a:path w="16153661" h="9258300">
                <a:moveTo>
                  <a:pt x="0" y="0"/>
                </a:moveTo>
                <a:lnTo>
                  <a:pt x="16153661" y="0"/>
                </a:lnTo>
                <a:lnTo>
                  <a:pt x="16153661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614145" y="195369"/>
            <a:ext cx="1707213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BPMN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1909" y="337828"/>
            <a:ext cx="85725" cy="900112"/>
            <a:chOff x="0" y="0"/>
            <a:chExt cx="114300" cy="1200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Freeform 4"/>
          <p:cNvSpPr/>
          <p:nvPr/>
        </p:nvSpPr>
        <p:spPr>
          <a:xfrm>
            <a:off x="1001234" y="1028700"/>
            <a:ext cx="16820186" cy="9008413"/>
          </a:xfrm>
          <a:custGeom>
            <a:avLst/>
            <a:gdLst/>
            <a:ahLst/>
            <a:cxnLst/>
            <a:rect l="l" t="t" r="r" b="b"/>
            <a:pathLst>
              <a:path w="16820186" h="9008413">
                <a:moveTo>
                  <a:pt x="0" y="0"/>
                </a:moveTo>
                <a:lnTo>
                  <a:pt x="16820186" y="0"/>
                </a:lnTo>
                <a:lnTo>
                  <a:pt x="16820186" y="9008413"/>
                </a:lnTo>
                <a:lnTo>
                  <a:pt x="0" y="90084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557659" y="290203"/>
            <a:ext cx="17072134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BPMN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501188" y="2343150"/>
            <a:ext cx="7915275" cy="5715000"/>
            <a:chOff x="0" y="0"/>
            <a:chExt cx="10553700" cy="7620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553700" cy="7620000"/>
            </a:xfrm>
            <a:custGeom>
              <a:avLst/>
              <a:gdLst/>
              <a:ahLst/>
              <a:cxnLst/>
              <a:rect l="l" t="t" r="r" b="b"/>
              <a:pathLst>
                <a:path w="10553700" h="7620000">
                  <a:moveTo>
                    <a:pt x="0" y="0"/>
                  </a:moveTo>
                  <a:lnTo>
                    <a:pt x="10553700" y="0"/>
                  </a:lnTo>
                  <a:lnTo>
                    <a:pt x="10553700" y="7620000"/>
                  </a:lnTo>
                  <a:lnTo>
                    <a:pt x="0" y="7620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18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71600" y="2166208"/>
            <a:ext cx="7685681" cy="2528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Enfoque Scrumban: 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Utilizamos esta metodología porque necesitamos el orden y la planificación de Scrum (Sprints de 3 semanas) combinado con el flujo continuo de Kanban para poder reaccionar inmediatamente a incidencias si un portal externo actualiza su página y rompe nuestro asistente.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28738" y="5048250"/>
            <a:ext cx="7415212" cy="150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Jira: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Utilizamos tableros digitales para gestionar el Product Backlog y generar historias de usuario, las cuales tendrán formato Gherkin.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71600" y="6823451"/>
            <a:ext cx="7415212" cy="1500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Límites WIP (Work in Progress):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Máximo 2 tareas en progreso simultáneo. Evita cuellos de botella y fuerza la finalización (Done).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8415766"/>
            <a:ext cx="7415212" cy="1020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2"/>
              </a:lnSpc>
            </a:pPr>
            <a:r>
              <a:rPr lang="en-US" sz="2137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Foco QA:</a:t>
            </a:r>
            <a:r>
              <a:rPr lang="en-US" sz="2137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 la columna de pruebas se llena, el desarrollo se detiene para solucionar bugs.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515475" y="2357438"/>
            <a:ext cx="7886700" cy="5686425"/>
            <a:chOff x="0" y="0"/>
            <a:chExt cx="10515600" cy="75819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0515600" cy="7581900"/>
            </a:xfrm>
            <a:custGeom>
              <a:avLst/>
              <a:gdLst/>
              <a:ahLst/>
              <a:cxnLst/>
              <a:rect l="l" t="t" r="r" b="b"/>
              <a:pathLst>
                <a:path w="10515600" h="7581900">
                  <a:moveTo>
                    <a:pt x="0" y="0"/>
                  </a:moveTo>
                  <a:lnTo>
                    <a:pt x="10515600" y="0"/>
                  </a:lnTo>
                  <a:lnTo>
                    <a:pt x="10515600" y="7581900"/>
                  </a:lnTo>
                  <a:lnTo>
                    <a:pt x="0" y="758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57288" y="823913"/>
            <a:ext cx="17072134" cy="947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 Ágil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71538" y="871538"/>
            <a:ext cx="85725" cy="900112"/>
            <a:chOff x="0" y="0"/>
            <a:chExt cx="114300" cy="12001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71538" y="2340769"/>
            <a:ext cx="171450" cy="300038"/>
            <a:chOff x="0" y="0"/>
            <a:chExt cx="228600" cy="400050"/>
          </a:xfrm>
        </p:grpSpPr>
        <p:sp>
          <p:nvSpPr>
            <p:cNvPr id="16" name="Freeform 16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1538" y="5229265"/>
            <a:ext cx="171450" cy="300038"/>
            <a:chOff x="0" y="0"/>
            <a:chExt cx="228600" cy="400050"/>
          </a:xfrm>
        </p:grpSpPr>
        <p:sp>
          <p:nvSpPr>
            <p:cNvPr id="18" name="Freeform 18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71538" y="7004426"/>
            <a:ext cx="171450" cy="300038"/>
            <a:chOff x="0" y="0"/>
            <a:chExt cx="228600" cy="400050"/>
          </a:xfrm>
        </p:grpSpPr>
        <p:sp>
          <p:nvSpPr>
            <p:cNvPr id="20" name="Freeform 20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71538" y="8596741"/>
            <a:ext cx="171450" cy="300038"/>
            <a:chOff x="0" y="0"/>
            <a:chExt cx="228600" cy="400050"/>
          </a:xfrm>
        </p:grpSpPr>
        <p:sp>
          <p:nvSpPr>
            <p:cNvPr id="22" name="Freeform 22" descr="image.png"/>
            <p:cNvSpPr/>
            <p:nvPr/>
          </p:nvSpPr>
          <p:spPr>
            <a:xfrm>
              <a:off x="0" y="0"/>
              <a:ext cx="228600" cy="400050"/>
            </a:xfrm>
            <a:custGeom>
              <a:avLst/>
              <a:gdLst/>
              <a:ahLst/>
              <a:cxnLst/>
              <a:rect l="l" t="t" r="r" b="b"/>
              <a:pathLst>
                <a:path w="228600" h="400050">
                  <a:moveTo>
                    <a:pt x="0" y="0"/>
                  </a:moveTo>
                  <a:lnTo>
                    <a:pt x="228600" y="0"/>
                  </a:lnTo>
                  <a:lnTo>
                    <a:pt x="228600" y="400050"/>
                  </a:lnTo>
                  <a:lnTo>
                    <a:pt x="0" y="400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3938422"/>
            <a:ext cx="7024531" cy="2754112"/>
            <a:chOff x="0" y="0"/>
            <a:chExt cx="12903207" cy="5058969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2903207" cy="5058918"/>
            </a:xfrm>
            <a:custGeom>
              <a:avLst/>
              <a:gdLst/>
              <a:ahLst/>
              <a:cxnLst/>
              <a:rect l="l" t="t" r="r" b="b"/>
              <a:pathLst>
                <a:path w="12903207" h="5058918">
                  <a:moveTo>
                    <a:pt x="0" y="0"/>
                  </a:moveTo>
                  <a:lnTo>
                    <a:pt x="12903207" y="0"/>
                  </a:lnTo>
                  <a:lnTo>
                    <a:pt x="12903207" y="5058918"/>
                  </a:lnTo>
                  <a:lnTo>
                    <a:pt x="0" y="50589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1131" r="-15" b="-11132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6854459"/>
            <a:ext cx="7024531" cy="3232213"/>
            <a:chOff x="0" y="0"/>
            <a:chExt cx="12252807" cy="5637911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2252807" cy="5637911"/>
            </a:xfrm>
            <a:custGeom>
              <a:avLst/>
              <a:gdLst/>
              <a:ahLst/>
              <a:cxnLst/>
              <a:rect l="l" t="t" r="r" b="b"/>
              <a:pathLst>
                <a:path w="12252807" h="5637911">
                  <a:moveTo>
                    <a:pt x="0" y="0"/>
                  </a:moveTo>
                  <a:lnTo>
                    <a:pt x="12252807" y="0"/>
                  </a:lnTo>
                  <a:lnTo>
                    <a:pt x="12252807" y="5637911"/>
                  </a:lnTo>
                  <a:lnTo>
                    <a:pt x="0" y="5637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049" b="-825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71538" y="1055995"/>
            <a:ext cx="85725" cy="1800225"/>
            <a:chOff x="0" y="0"/>
            <a:chExt cx="114300" cy="2400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300" cy="2400300"/>
            </a:xfrm>
            <a:custGeom>
              <a:avLst/>
              <a:gdLst/>
              <a:ahLst/>
              <a:cxnLst/>
              <a:rect l="l" t="t" r="r" b="b"/>
              <a:pathLst>
                <a:path w="114300" h="2400300">
                  <a:moveTo>
                    <a:pt x="0" y="0"/>
                  </a:moveTo>
                  <a:lnTo>
                    <a:pt x="114300" y="0"/>
                  </a:lnTo>
                  <a:lnTo>
                    <a:pt x="114300" y="2400300"/>
                  </a:lnTo>
                  <a:lnTo>
                    <a:pt x="0" y="240030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01188" y="14288"/>
            <a:ext cx="8772525" cy="10287000"/>
            <a:chOff x="0" y="0"/>
            <a:chExt cx="116967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696700" cy="13716000"/>
            </a:xfrm>
            <a:custGeom>
              <a:avLst/>
              <a:gdLst/>
              <a:ahLst/>
              <a:cxnLst/>
              <a:rect l="l" t="t" r="r" b="b"/>
              <a:pathLst>
                <a:path w="11696700" h="13716000">
                  <a:moveTo>
                    <a:pt x="0" y="0"/>
                  </a:moveTo>
                  <a:lnTo>
                    <a:pt x="11696700" y="0"/>
                  </a:lnTo>
                  <a:lnTo>
                    <a:pt x="116967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8237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57288" y="1008370"/>
            <a:ext cx="8011001" cy="1847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Propuesta de Arquitectura y BD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31202" y="4015339"/>
            <a:ext cx="5839220" cy="513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543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Stack Tecnológico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1202" y="4644411"/>
            <a:ext cx="5561162" cy="1647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1726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Frontend:</a:t>
            </a:r>
            <a:r>
              <a:rPr lang="en-US" sz="172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React, Next.js, Tailwind.</a:t>
            </a:r>
          </a:p>
          <a:p>
            <a:pPr algn="l">
              <a:lnSpc>
                <a:spcPts val="2622"/>
              </a:lnSpc>
            </a:pPr>
            <a:r>
              <a:rPr lang="en-US" sz="1726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Extensión:</a:t>
            </a:r>
            <a:r>
              <a:rPr lang="en-US" sz="172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Plasmo Framework (Ext. Navegador).</a:t>
            </a:r>
          </a:p>
          <a:p>
            <a:pPr algn="l">
              <a:lnSpc>
                <a:spcPts val="2622"/>
              </a:lnSpc>
            </a:pPr>
            <a:r>
              <a:rPr lang="en-US" sz="1726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Backend:</a:t>
            </a:r>
            <a:r>
              <a:rPr lang="en-US" sz="172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Python / FastAPI para IA.</a:t>
            </a:r>
          </a:p>
          <a:p>
            <a:pPr algn="l">
              <a:lnSpc>
                <a:spcPts val="2621"/>
              </a:lnSpc>
            </a:pPr>
            <a:r>
              <a:rPr lang="en-US" sz="1726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QA:</a:t>
            </a:r>
            <a:r>
              <a:rPr lang="en-US" sz="172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Cypress para pruebas E2E.</a:t>
            </a:r>
          </a:p>
          <a:p>
            <a:pPr algn="l">
              <a:lnSpc>
                <a:spcPts val="2622"/>
              </a:lnSpc>
            </a:pPr>
            <a:r>
              <a:rPr lang="en-US" sz="1726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Diseño</a:t>
            </a:r>
            <a:r>
              <a:rPr lang="en-US" sz="172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: Figma.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1202" y="7058838"/>
            <a:ext cx="5839220" cy="513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2"/>
              </a:lnSpc>
            </a:pPr>
            <a:r>
              <a:rPr lang="en-US" sz="2543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Modelo de Datos Relacional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1202" y="7687911"/>
            <a:ext cx="5561162" cy="1377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2"/>
              </a:lnSpc>
            </a:pPr>
            <a:r>
              <a:rPr lang="en-US" sz="172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Soportado por </a:t>
            </a:r>
            <a:r>
              <a:rPr lang="en-US" sz="1726" b="1">
                <a:solidFill>
                  <a:srgbClr val="CBD5E1"/>
                </a:solidFill>
                <a:latin typeface="Inter Bold"/>
                <a:ea typeface="Inter Bold"/>
                <a:cs typeface="Inter Bold"/>
                <a:sym typeface="Inter Bold"/>
              </a:rPr>
              <a:t>PostgreSQL</a:t>
            </a:r>
            <a:r>
              <a:rPr lang="en-US" sz="172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(Supabase).</a:t>
            </a:r>
          </a:p>
          <a:p>
            <a:pPr algn="l">
              <a:lnSpc>
                <a:spcPts val="2622"/>
              </a:lnSpc>
            </a:pPr>
            <a:r>
              <a:rPr lang="en-US" sz="172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- Entidades Perfil: Usuarios, Exp_Laboral, Educación.</a:t>
            </a:r>
          </a:p>
          <a:p>
            <a:pPr algn="l">
              <a:lnSpc>
                <a:spcPts val="2622"/>
              </a:lnSpc>
            </a:pPr>
            <a:r>
              <a:rPr lang="en-US" sz="172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- Entidades Sistema: Portales, Analisis_IA.</a:t>
            </a:r>
          </a:p>
          <a:p>
            <a:pPr algn="l">
              <a:lnSpc>
                <a:spcPts val="2622"/>
              </a:lnSpc>
            </a:pPr>
            <a:r>
              <a:rPr lang="en-US" sz="1726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- Entidad Transaccional: Postulaciones (Une usuario, portal y estado Kanban).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37636" y="2856220"/>
            <a:ext cx="6406658" cy="69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AltoqueCV es un producto dual. Consta de una Extensión de Navegador conectada a un Dashboard Web.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44400" y="2343150"/>
            <a:ext cx="16452345" cy="7411527"/>
            <a:chOff x="0" y="0"/>
            <a:chExt cx="23073036" cy="10394046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3073037" cy="10394021"/>
            </a:xfrm>
            <a:custGeom>
              <a:avLst/>
              <a:gdLst/>
              <a:ahLst/>
              <a:cxnLst/>
              <a:rect l="l" t="t" r="r" b="b"/>
              <a:pathLst>
                <a:path w="23073037" h="10394021">
                  <a:moveTo>
                    <a:pt x="0" y="0"/>
                  </a:moveTo>
                  <a:lnTo>
                    <a:pt x="23073037" y="0"/>
                  </a:lnTo>
                  <a:lnTo>
                    <a:pt x="23073037" y="10394021"/>
                  </a:lnTo>
                  <a:lnTo>
                    <a:pt x="0" y="10394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0358" r="-138" b="-60358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29658" y="2628408"/>
            <a:ext cx="7090691" cy="4754295"/>
            <a:chOff x="0" y="0"/>
            <a:chExt cx="9944100" cy="666750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9944100" cy="6667500"/>
            </a:xfrm>
            <a:custGeom>
              <a:avLst/>
              <a:gdLst/>
              <a:ahLst/>
              <a:cxnLst/>
              <a:rect l="l" t="t" r="r" b="b"/>
              <a:pathLst>
                <a:path w="9944100" h="6667500">
                  <a:moveTo>
                    <a:pt x="0" y="0"/>
                  </a:moveTo>
                  <a:lnTo>
                    <a:pt x="9944100" y="0"/>
                  </a:lnTo>
                  <a:lnTo>
                    <a:pt x="9944100" y="6667500"/>
                  </a:lnTo>
                  <a:lnTo>
                    <a:pt x="0" y="666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83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29658" y="2779936"/>
            <a:ext cx="7063523" cy="4727127"/>
            <a:chOff x="0" y="0"/>
            <a:chExt cx="9906000" cy="6629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906000" cy="6629400"/>
            </a:xfrm>
            <a:custGeom>
              <a:avLst/>
              <a:gdLst/>
              <a:ahLst/>
              <a:cxnLst/>
              <a:rect l="l" t="t" r="r" b="b"/>
              <a:pathLst>
                <a:path w="9906000" h="6629400">
                  <a:moveTo>
                    <a:pt x="0" y="0"/>
                  </a:moveTo>
                  <a:lnTo>
                    <a:pt x="9906000" y="0"/>
                  </a:lnTo>
                  <a:lnTo>
                    <a:pt x="9906000" y="6629400"/>
                  </a:lnTo>
                  <a:lnTo>
                    <a:pt x="0" y="662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9" b="-6010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71538" y="871538"/>
            <a:ext cx="85725" cy="900112"/>
            <a:chOff x="0" y="0"/>
            <a:chExt cx="114300" cy="1200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4300" cy="1200150"/>
            </a:xfrm>
            <a:custGeom>
              <a:avLst/>
              <a:gdLst/>
              <a:ahLst/>
              <a:cxnLst/>
              <a:rect l="l" t="t" r="r" b="b"/>
              <a:pathLst>
                <a:path w="114300" h="1200150">
                  <a:moveTo>
                    <a:pt x="0" y="0"/>
                  </a:moveTo>
                  <a:lnTo>
                    <a:pt x="114300" y="0"/>
                  </a:lnTo>
                  <a:lnTo>
                    <a:pt x="114300" y="1200150"/>
                  </a:lnTo>
                  <a:lnTo>
                    <a:pt x="0" y="1200150"/>
                  </a:lnTo>
                  <a:close/>
                </a:path>
              </a:pathLst>
            </a:custGeom>
            <a:solidFill>
              <a:srgbClr val="06B6D4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29658" y="7635326"/>
            <a:ext cx="7445225" cy="58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994" b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Web App Dashboard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241" y="8110592"/>
            <a:ext cx="7090691" cy="1207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85"/>
              </a:lnSpc>
            </a:pPr>
            <a:r>
              <a:rPr lang="en-US" sz="171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Panel central donde el usuario visualiza su Perfil Maestro, métricas de éxito y el tablero Kanban interactivo para gestionar estados (Enviado, Entrevista, Rechazado).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7288" y="823913"/>
            <a:ext cx="17072134" cy="947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 b="1">
                <a:solidFill>
                  <a:srgbClr val="F8FAFC"/>
                </a:solidFill>
                <a:latin typeface="Poppins Bold"/>
                <a:ea typeface="Poppins Bold"/>
                <a:cs typeface="Poppins Bold"/>
                <a:sym typeface="Poppins Bold"/>
              </a:rPr>
              <a:t>Evidencia de Interfaz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470573" y="2779936"/>
            <a:ext cx="7063523" cy="4727127"/>
            <a:chOff x="0" y="0"/>
            <a:chExt cx="9906000" cy="6629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906000" cy="6629400"/>
            </a:xfrm>
            <a:custGeom>
              <a:avLst/>
              <a:gdLst/>
              <a:ahLst/>
              <a:cxnLst/>
              <a:rect l="l" t="t" r="r" b="b"/>
              <a:pathLst>
                <a:path w="9906000" h="6629400">
                  <a:moveTo>
                    <a:pt x="0" y="0"/>
                  </a:moveTo>
                  <a:lnTo>
                    <a:pt x="9906000" y="0"/>
                  </a:lnTo>
                  <a:lnTo>
                    <a:pt x="9906000" y="6629400"/>
                  </a:lnTo>
                  <a:lnTo>
                    <a:pt x="0" y="6629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0139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288518" y="2441819"/>
            <a:ext cx="7710964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sz="9000" b="1">
                <a:solidFill>
                  <a:srgbClr val="06B6D4"/>
                </a:solidFill>
                <a:latin typeface="Poppins Bold"/>
                <a:ea typeface="Poppins Bold"/>
                <a:cs typeface="Poppins Bold"/>
                <a:sym typeface="Poppins Bold"/>
              </a:rPr>
              <a:t>¿Preguntas?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72288" y="5537444"/>
            <a:ext cx="4543425" cy="859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46"/>
              </a:lnSpc>
            </a:pPr>
            <a:r>
              <a:rPr lang="en-US" sz="31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Gracias por su atención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43775" y="6939486"/>
            <a:ext cx="3600450" cy="1004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02"/>
              </a:lnSpc>
            </a:pPr>
            <a:r>
              <a:rPr lang="en-US" sz="2137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AltoqueCV - Capstone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Microsoft Office PowerPoint</Application>
  <PresentationFormat>Personalizado</PresentationFormat>
  <Paragraphs>112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Inter Bold</vt:lpstr>
      <vt:lpstr>Arial</vt:lpstr>
      <vt:lpstr>Inter</vt:lpstr>
      <vt:lpstr>Poppins</vt:lpstr>
      <vt:lpstr>Poppins Bold</vt:lpstr>
      <vt:lpstr>Calibri</vt:lpstr>
      <vt:lpstr>Poppins Medium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 1.1 CAPSTONE</dc:title>
  <cp:lastModifiedBy>Amaro Alonso</cp:lastModifiedBy>
  <cp:revision>2</cp:revision>
  <dcterms:created xsi:type="dcterms:W3CDTF">2006-08-16T00:00:00Z</dcterms:created>
  <dcterms:modified xsi:type="dcterms:W3CDTF">2026-08-31T19:50:13Z</dcterms:modified>
  <dc:identifier>DAHTW7p6K7s</dc:identifier>
</cp:coreProperties>
</file>